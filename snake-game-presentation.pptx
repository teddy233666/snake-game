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97280" y="1828800"/>
            <a:ext cx="329184" cy="329184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63040" y="1828800"/>
            <a:ext cx="329184" cy="329184"/>
          </a:xfrm>
          <a:prstGeom prst="roundRect">
            <a:avLst/>
          </a:prstGeom>
          <a:solidFill>
            <a:srgbClr val="48C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828800"/>
            <a:ext cx="329184" cy="329184"/>
          </a:xfrm>
          <a:prstGeom prst="roundRect">
            <a:avLst/>
          </a:prstGeom>
          <a:solidFill>
            <a:srgbClr val="43BB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194560" y="1828800"/>
            <a:ext cx="329184" cy="329184"/>
          </a:xfrm>
          <a:prstGeom prst="roundRect">
            <a:avLst/>
          </a:prstGeom>
          <a:solidFill>
            <a:srgbClr val="3EB3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329184" cy="329184"/>
          </a:xfrm>
          <a:prstGeom prst="roundRect">
            <a:avLst/>
          </a:prstGeom>
          <a:solidFill>
            <a:srgbClr val="39A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26080" y="1828800"/>
            <a:ext cx="329184" cy="329184"/>
          </a:xfrm>
          <a:prstGeom prst="roundRect">
            <a:avLst/>
          </a:prstGeom>
          <a:solidFill>
            <a:srgbClr val="34A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828800"/>
            <a:ext cx="329184" cy="329184"/>
          </a:xfrm>
          <a:prstGeom prst="roundRect">
            <a:avLst/>
          </a:prstGeom>
          <a:solidFill>
            <a:srgbClr val="2E9A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0" y="1828800"/>
            <a:ext cx="329184" cy="329184"/>
          </a:xfrm>
          <a:prstGeom prst="roundRect">
            <a:avLst/>
          </a:prstGeom>
          <a:solidFill>
            <a:srgbClr val="2992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23360" y="1828800"/>
            <a:ext cx="329184" cy="329184"/>
          </a:xfrm>
          <a:prstGeom prst="roundRect">
            <a:avLst/>
          </a:prstGeom>
          <a:solidFill>
            <a:srgbClr val="2489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28800"/>
            <a:ext cx="329184" cy="329184"/>
          </a:xfrm>
          <a:prstGeom prst="roundRect">
            <a:avLst/>
          </a:prstGeom>
          <a:solidFill>
            <a:srgbClr val="1F81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07592" y="1883664"/>
            <a:ext cx="91440" cy="9144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07592" y="2029968"/>
            <a:ext cx="91440" cy="9144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25880" y="1901952"/>
            <a:ext cx="45720" cy="45720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048256"/>
            <a:ext cx="45720" cy="45720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02952" y="1901951"/>
            <a:ext cx="320040" cy="320040"/>
          </a:xfrm>
          <a:prstGeom prst="ellipse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30384" y="1929384"/>
            <a:ext cx="265176" cy="265176"/>
          </a:xfrm>
          <a:prstGeom prst="ellipse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56032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4ECCA3"/>
                </a:solidFill>
                <a:latin typeface="Microsoft YaHei"/>
              </a:defRPr>
            </a:pPr>
            <a:r>
              <a:t>贪吃蛇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576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EEEEEE"/>
                </a:solidFill>
                <a:latin typeface="Microsoft YaHei"/>
              </a:defRPr>
            </a:pPr>
            <a:r>
              <a:t>Snake Game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4297680"/>
            <a:ext cx="2468880" cy="2743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663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88"/>
                </a:solidFill>
                <a:latin typeface="Microsoft YaHei"/>
              </a:defRPr>
            </a:pPr>
            <a:r>
              <a:t>纯 HTML / CSS / JavaScript 经典网页游戏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7607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Teddy233666 · 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5029200"/>
            <a:ext cx="1828800" cy="1280160"/>
          </a:xfrm>
          <a:prstGeom prst="rect">
            <a:avLst/>
          </a:prstGeom>
          <a:solidFill>
            <a:srgbClr val="16213E"/>
          </a:solidFill>
          <a:ln w="1270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0" y="5029200"/>
            <a:ext cx="1828800" cy="2286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738360" y="5093208"/>
            <a:ext cx="91440" cy="91440"/>
          </a:xfrm>
          <a:prstGeom prst="ellipse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21240" y="5093208"/>
            <a:ext cx="91440" cy="91440"/>
          </a:xfrm>
          <a:prstGeom prst="ellipse">
            <a:avLst/>
          </a:prstGeom>
          <a:solidFill>
            <a:srgbClr val="FFB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04120" y="5093208"/>
            <a:ext cx="91440" cy="91440"/>
          </a:xfrm>
          <a:prstGeom prst="ellipse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0" y="6355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index.html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0080"/>
            <a:ext cx="54864" cy="54864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EEEEE"/>
                </a:solidFill>
                <a:latin typeface="Microsoft YaHei"/>
              </a:defRPr>
            </a:pPr>
            <a:r>
              <a:t>项目概览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22860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CA3"/>
                </a:solidFill>
                <a:latin typeface="Microsoft YaHei"/>
              </a:defRPr>
            </a:pPr>
            <a:r>
              <a:t>📦 关于本项目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Microsoft YaHei"/>
              </a:defRPr>
            </a:pPr>
            <a:r>
              <a:t>• 经典贪吃蛇游戏，原生 Web 技术实现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Microsoft YaHei"/>
              </a:defRPr>
            </a:pPr>
            <a:r>
              <a:t>• 零依赖、零构建、浏览器打开即玩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Microsoft YaHei"/>
              </a:defRPr>
            </a:pPr>
            <a:r>
              <a:t>• 单文件架构，HTML/CSS/JS 合为一体</a:t>
            </a:r>
          </a:p>
          <a:p>
            <a:pPr>
              <a:spcAft>
                <a:spcPts val="600"/>
              </a:spcAft>
              <a:defRPr sz="1400">
                <a:solidFill>
                  <a:srgbClr val="EEEEEE"/>
                </a:solidFill>
                <a:latin typeface="Microsoft YaHei"/>
              </a:defRPr>
            </a:pPr>
            <a:r>
              <a:t>• 开源项目，托管于 GitHub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45920"/>
            <a:ext cx="4846320" cy="22860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CA3"/>
                </a:solidFill>
                <a:latin typeface="Microsoft YaHei"/>
              </a:defRPr>
            </a:pPr>
            <a:r>
              <a:t>🛠 技术栈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2286000"/>
            <a:ext cx="777240" cy="77724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F5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306324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572A"/>
                </a:solidFill>
                <a:latin typeface="Microsoft YaHei"/>
              </a:defRPr>
            </a:pPr>
            <a:r>
              <a:t>HTML5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112" y="2286000"/>
            <a:ext cx="777240" cy="77724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296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54112" y="306324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969F1"/>
                </a:solidFill>
                <a:latin typeface="Microsoft YaHei"/>
              </a:defRPr>
            </a:pPr>
            <a:r>
              <a:t>CSS3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50224" y="2286000"/>
            <a:ext cx="777240" cy="77724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F7D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0224" y="306324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7DF1E"/>
                </a:solidFill>
                <a:latin typeface="Microsoft YaHei"/>
              </a:defRPr>
            </a:pPr>
            <a:r>
              <a:t>JavaScript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46336" y="2286000"/>
            <a:ext cx="777240" cy="77724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4E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46336" y="306324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4ECCA3"/>
                </a:solidFill>
                <a:latin typeface="Microsoft YaHei"/>
              </a:defRPr>
            </a:pPr>
            <a:r>
              <a:t>Canvas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42448" y="2286000"/>
            <a:ext cx="777240" cy="777240"/>
          </a:xfrm>
          <a:prstGeom prst="roundRect">
            <a:avLst/>
          </a:prstGeom>
          <a:solidFill>
            <a:srgbClr val="1A1A2E"/>
          </a:solidFill>
          <a:ln w="190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42448" y="306324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88"/>
                </a:solidFill>
                <a:latin typeface="Microsoft YaHei"/>
              </a:defRPr>
            </a:pPr>
            <a:r>
              <a:t>localStorage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06240"/>
            <a:ext cx="5303520" cy="22860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CA3"/>
                </a:solidFill>
                <a:latin typeface="Microsoft YaHei"/>
              </a:defRPr>
            </a:pPr>
            <a:r>
              <a:t>🎮 游戏预览 (缩略图)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720" y="4846320"/>
            <a:ext cx="2633472" cy="1645919"/>
          </a:xfrm>
          <a:prstGeom prst="rect">
            <a:avLst/>
          </a:prstGeom>
          <a:solidFill>
            <a:srgbClr val="0F0F23"/>
          </a:solidFill>
          <a:ln w="19050">
            <a:solidFill>
              <a:srgbClr val="4E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53312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517904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82496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47088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011680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76272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340864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05456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70048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34639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99232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3824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28415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93008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0" y="4846320"/>
            <a:ext cx="1828" cy="1645919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8720" y="5010912"/>
            <a:ext cx="2633472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8720" y="5175504"/>
            <a:ext cx="2633472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88720" y="5340096"/>
            <a:ext cx="2633472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88720" y="5504688"/>
            <a:ext cx="2633472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88720" y="5669279"/>
            <a:ext cx="2633472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88720" y="5833872"/>
            <a:ext cx="2633472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88720" y="5998464"/>
            <a:ext cx="2633472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88720" y="6163056"/>
            <a:ext cx="2633472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88720" y="6327648"/>
            <a:ext cx="2633472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682496" y="5669279"/>
            <a:ext cx="137160" cy="13716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847088" y="5669279"/>
            <a:ext cx="137160" cy="13716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011680" y="5669279"/>
            <a:ext cx="137160" cy="13716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176272" y="5669279"/>
            <a:ext cx="137160" cy="13716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340864" y="5669279"/>
            <a:ext cx="137160" cy="13716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834639" y="5340096"/>
            <a:ext cx="137160" cy="137160"/>
          </a:xfrm>
          <a:prstGeom prst="ellipse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583680" y="4206240"/>
            <a:ext cx="4846320" cy="22860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0" y="4297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CA3"/>
                </a:solidFill>
                <a:latin typeface="Microsoft YaHei"/>
              </a:defRPr>
            </a:pPr>
            <a:r>
              <a:t>📁 文件结构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40880" y="48006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Microsoft YaHei"/>
              </a:defRPr>
            </a:pPr>
            <a:r>
              <a:t>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4800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CA3"/>
                </a:solidFill>
                <a:latin typeface="Microsoft YaHei"/>
              </a:defRPr>
            </a:pPr>
            <a:r>
              <a:t>snake-game.html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4800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主游戏文件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0" y="518464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Microsoft YaHei"/>
              </a:defRPr>
            </a:pPr>
            <a:r>
              <a:t>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0" y="51846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CA3"/>
                </a:solidFill>
                <a:latin typeface="Microsoft YaHei"/>
              </a:defRPr>
            </a:pPr>
            <a:r>
              <a:t>CLAUDE.md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51846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AI 协作指南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0" y="556869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Microsoft YaHei"/>
              </a:defRPr>
            </a:pPr>
            <a:r>
              <a:t>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55686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CA3"/>
                </a:solidFill>
                <a:latin typeface="Microsoft YaHei"/>
              </a:defRPr>
            </a:pPr>
            <a:r>
              <a:t>.gitignore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0" y="556869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Git 忽略规则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40880" y="595274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Microsoft YaHei"/>
              </a:defRPr>
            </a:pPr>
            <a:r>
              <a:t>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0" y="595274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CA3"/>
                </a:solidFill>
                <a:latin typeface="Microsoft YaHei"/>
              </a:defRPr>
            </a:pPr>
            <a:r>
              <a:t>snake-game-presentation.pptx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0" y="595274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项目展示 PPT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0080"/>
            <a:ext cx="54864" cy="54864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EEEEE"/>
                </a:solidFill>
                <a:latin typeface="Microsoft YaHei"/>
              </a:defRPr>
            </a:pPr>
            <a:r>
              <a:t>游戏功能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669280" cy="48463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CA3"/>
                </a:solidFill>
                <a:latin typeface="Microsoft YaHei"/>
              </a:defRPr>
            </a:pPr>
            <a:r>
              <a:t>核心玩法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2286000"/>
            <a:ext cx="3657600" cy="2377440"/>
          </a:xfrm>
          <a:prstGeom prst="rect">
            <a:avLst/>
          </a:prstGeom>
          <a:solidFill>
            <a:srgbClr val="0F0F23"/>
          </a:solidFill>
          <a:ln w="19050">
            <a:solidFill>
              <a:srgbClr val="4E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5448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3736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2024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0312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8600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888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5176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4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1752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6616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4904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056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63440" y="2286000"/>
            <a:ext cx="1828" cy="2377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8720" y="2468880"/>
            <a:ext cx="365760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88720" y="2651760"/>
            <a:ext cx="365760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88720" y="2834640"/>
            <a:ext cx="365760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88720" y="3017520"/>
            <a:ext cx="365760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" y="3200400"/>
            <a:ext cx="365760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88720" y="3383280"/>
            <a:ext cx="365760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88720" y="3566160"/>
            <a:ext cx="365760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88720" y="3749039"/>
            <a:ext cx="365760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88720" y="3931920"/>
            <a:ext cx="365760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88720" y="4114800"/>
            <a:ext cx="365760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88720" y="4297680"/>
            <a:ext cx="365760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88720" y="4480560"/>
            <a:ext cx="365760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103120" y="3383280"/>
            <a:ext cx="146304" cy="146304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286000" y="3383280"/>
            <a:ext cx="146304" cy="146304"/>
          </a:xfrm>
          <a:prstGeom prst="roundRect">
            <a:avLst/>
          </a:prstGeom>
          <a:solidFill>
            <a:srgbClr val="48C3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468880" y="3383280"/>
            <a:ext cx="146304" cy="146304"/>
          </a:xfrm>
          <a:prstGeom prst="roundRect">
            <a:avLst/>
          </a:prstGeom>
          <a:solidFill>
            <a:srgbClr val="42B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651760" y="3383280"/>
            <a:ext cx="146304" cy="146304"/>
          </a:xfrm>
          <a:prstGeom prst="roundRect">
            <a:avLst/>
          </a:prstGeom>
          <a:solidFill>
            <a:srgbClr val="3DB1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34640" y="3383280"/>
            <a:ext cx="146304" cy="146304"/>
          </a:xfrm>
          <a:prstGeom prst="roundRect">
            <a:avLst/>
          </a:prstGeom>
          <a:solidFill>
            <a:srgbClr val="37A8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3383280"/>
            <a:ext cx="146304" cy="146304"/>
          </a:xfrm>
          <a:prstGeom prst="roundRect">
            <a:avLst/>
          </a:prstGeom>
          <a:solidFill>
            <a:srgbClr val="329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00400" y="3383280"/>
            <a:ext cx="146304" cy="146304"/>
          </a:xfrm>
          <a:prstGeom prst="roundRect">
            <a:avLst/>
          </a:prstGeom>
          <a:solidFill>
            <a:srgbClr val="2C9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383280" y="3383280"/>
            <a:ext cx="146304" cy="146304"/>
          </a:xfrm>
          <a:prstGeom prst="roundRect">
            <a:avLst/>
          </a:prstGeom>
          <a:solidFill>
            <a:srgbClr val="278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931920" y="3017520"/>
            <a:ext cx="146304" cy="146304"/>
          </a:xfrm>
          <a:prstGeom prst="ellipse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419856" y="3419856"/>
            <a:ext cx="54864" cy="54864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419856" y="3529584"/>
            <a:ext cx="54864" cy="54864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5840" y="484632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Microsoft YaHei"/>
              </a:defRPr>
            </a:pPr>
            <a:r>
              <a:t>• 方向键 ↑↓←→ 或 W/A/S/D 控制蛇的移动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Microsoft YaHei"/>
              </a:defRPr>
            </a:pPr>
            <a:r>
              <a:t>• 吃到红色食物 +10 分，蛇身增长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Microsoft YaHei"/>
              </a:defRPr>
            </a:pPr>
            <a:r>
              <a:t>• 撞墙或撞到自己 → 游戏结束</a:t>
            </a:r>
          </a:p>
          <a:p>
            <a:pPr>
              <a:spcAft>
                <a:spcPts val="600"/>
              </a:spcAft>
              <a:defRPr sz="1300">
                <a:solidFill>
                  <a:srgbClr val="EEEEEE"/>
                </a:solidFill>
                <a:latin typeface="Microsoft YaHei"/>
              </a:defRPr>
            </a:pPr>
            <a:r>
              <a:t>• 空格键暂停/继续游戏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58000" y="1645920"/>
            <a:ext cx="457200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0" y="17190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ECCA3"/>
                </a:solidFill>
                <a:latin typeface="Microsoft YaHei"/>
              </a:defRPr>
            </a:pPr>
            <a:r>
              <a:t>最高分记录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2057400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EEEEE"/>
                </a:solidFill>
                <a:latin typeface="Microsoft YaHei"/>
              </a:defRPr>
            </a:pPr>
            <a:r>
              <a:t>自动保存到浏览器</a:t>
            </a:r>
            <a:br/>
            <a:r>
              <a:t>localStorage</a:t>
            </a:r>
            <a:br/>
            <a:r>
              <a:t>跨会话持久化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58000" y="2880360"/>
            <a:ext cx="457200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32320" y="29535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ECCA3"/>
                </a:solidFill>
                <a:latin typeface="Microsoft YaHei"/>
              </a:defRPr>
            </a:pPr>
            <a:r>
              <a:t>蛇身渐变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2320" y="3291840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EEEEE"/>
                </a:solidFill>
                <a:latin typeface="Microsoft YaHei"/>
              </a:defRPr>
            </a:pPr>
            <a:r>
              <a:t>蛇头明亮 → 蛇尾暗沉</a:t>
            </a:r>
            <a:br/>
            <a:r>
              <a:t>RGB 动态插值计算</a:t>
            </a:r>
            <a:br/>
            <a:r>
              <a:t>每段独立着色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58000" y="4114800"/>
            <a:ext cx="457200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32320" y="41879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ECCA3"/>
                </a:solidFill>
                <a:latin typeface="Microsoft YaHei"/>
              </a:defRPr>
            </a:pPr>
            <a:r>
              <a:t>视觉反馈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32320" y="4526280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EEEEE"/>
                </a:solidFill>
                <a:latin typeface="Microsoft YaHei"/>
              </a:defRPr>
            </a:pPr>
            <a:r>
              <a:t>食物红色发光</a:t>
            </a:r>
            <a:br/>
            <a:r>
              <a:t>蛇头眼睛跟随方向</a:t>
            </a:r>
            <a:br/>
            <a:r>
              <a:t>游戏结束遮罩动画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858000" y="5349240"/>
            <a:ext cx="4572000" cy="10972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32320" y="54223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ECCA3"/>
                </a:solidFill>
                <a:latin typeface="Microsoft YaHei"/>
              </a:defRPr>
            </a:pPr>
            <a:r>
              <a:t>响应式布局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32320" y="5760720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EEEEE"/>
                </a:solidFill>
                <a:latin typeface="Microsoft YaHei"/>
              </a:defRPr>
            </a:pPr>
            <a:r>
              <a:t>Flexbox 居中布局</a:t>
            </a:r>
            <a:br/>
            <a:r>
              <a:t>自适应不同屏幕</a:t>
            </a:r>
            <a:br/>
            <a:r>
              <a:t>键盘按键提示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0080"/>
            <a:ext cx="54864" cy="54864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EEEEE"/>
                </a:solidFill>
                <a:latin typeface="Microsoft YaHei"/>
              </a:defRPr>
            </a:pPr>
            <a:r>
              <a:t>代码架构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103120" cy="22860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103120" cy="41148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EE"/>
                </a:solidFill>
                <a:latin typeface="Microsoft YaHei"/>
              </a:defRPr>
            </a:pPr>
            <a:r>
              <a:t>配置层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9456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EE"/>
                </a:solidFill>
                <a:latin typeface="Microsoft YaHei"/>
              </a:defRPr>
            </a:pPr>
            <a:r>
              <a:t>GRID/COLS/ROWS</a:t>
            </a:r>
            <a:br/>
            <a:r>
              <a:t>DIR 方向常量</a:t>
            </a:r>
            <a:br/>
            <a:r>
              <a:t>中心坐标 CX/CY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6040" y="2468880"/>
            <a:ext cx="109728" cy="274320"/>
          </a:xfrm>
          <a:prstGeom prst="rightArrow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0" y="1645920"/>
            <a:ext cx="2103120" cy="22860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645920"/>
            <a:ext cx="2103120" cy="411480"/>
          </a:xfrm>
          <a:prstGeom prst="rect">
            <a:avLst/>
          </a:prstGeom>
          <a:solidFill>
            <a:srgbClr val="36A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167335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EE"/>
                </a:solidFill>
                <a:latin typeface="Microsoft YaHei"/>
              </a:defRPr>
            </a:pPr>
            <a:r>
              <a:t>状态层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19456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EE"/>
                </a:solidFill>
                <a:latin typeface="Microsoft YaHei"/>
              </a:defRPr>
            </a:pPr>
            <a:r>
              <a:t>snake[] 蛇身</a:t>
            </a:r>
            <a:br/>
            <a:r>
              <a:t>food 食物位置</a:t>
            </a:r>
            <a:br/>
            <a:r>
              <a:t>score / best 分数</a:t>
            </a:r>
            <a:br/>
            <a:r>
              <a:t>running / paused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92040" y="2468880"/>
            <a:ext cx="109728" cy="274320"/>
          </a:xfrm>
          <a:prstGeom prst="rightArrow">
            <a:avLst/>
          </a:prstGeom>
          <a:solidFill>
            <a:srgbClr val="36A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0" y="1645920"/>
            <a:ext cx="2103120" cy="22860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645920"/>
            <a:ext cx="2103120" cy="411480"/>
          </a:xfrm>
          <a:prstGeom prst="rect">
            <a:avLst/>
          </a:prstGeom>
          <a:solidFill>
            <a:srgbClr val="FFB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67335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EE"/>
                </a:solidFill>
                <a:latin typeface="Microsoft YaHei"/>
              </a:defRPr>
            </a:pPr>
            <a:r>
              <a:t>逻辑层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219456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EE"/>
                </a:solidFill>
                <a:latin typeface="Microsoft YaHei"/>
              </a:defRPr>
            </a:pPr>
            <a:r>
              <a:t>init() 初始化</a:t>
            </a:r>
            <a:br/>
            <a:r>
              <a:t>update() 每帧更新</a:t>
            </a:r>
            <a:br/>
            <a:r>
              <a:t>spawnFood() 食物</a:t>
            </a:r>
            <a:br/>
            <a:r>
              <a:t>碰撞检测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78040" y="2468880"/>
            <a:ext cx="109728" cy="274320"/>
          </a:xfrm>
          <a:prstGeom prst="rightArrow">
            <a:avLst/>
          </a:prstGeom>
          <a:solidFill>
            <a:srgbClr val="FFB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0" y="1645920"/>
            <a:ext cx="2103120" cy="22860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645920"/>
            <a:ext cx="2103120" cy="411480"/>
          </a:xfrm>
          <a:prstGeom prst="rect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0" y="167335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EE"/>
                </a:solidFill>
                <a:latin typeface="Microsoft YaHei"/>
              </a:defRPr>
            </a:pPr>
            <a:r>
              <a:t>渲染层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19456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EE"/>
                </a:solidFill>
                <a:latin typeface="Microsoft YaHei"/>
              </a:defRPr>
            </a:pPr>
            <a:r>
              <a:t>draw() 主渲染</a:t>
            </a:r>
            <a:br/>
            <a:r>
              <a:t>离屏 Canvas 网格</a:t>
            </a:r>
            <a:br/>
            <a:r>
              <a:t>蛇身渐变着色</a:t>
            </a:r>
            <a:br/>
            <a:r>
              <a:t>食物发光效果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464040" y="2468880"/>
            <a:ext cx="109728" cy="274320"/>
          </a:xfrm>
          <a:prstGeom prst="rightArrow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01200" y="1645920"/>
            <a:ext cx="2103120" cy="22860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645920"/>
            <a:ext cx="2103120" cy="411480"/>
          </a:xfrm>
          <a:prstGeom prst="rect">
            <a:avLst/>
          </a:prstGeom>
          <a:solidFill>
            <a:srgbClr val="AA6D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0" y="167335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EEEEE"/>
                </a:solidFill>
                <a:latin typeface="Microsoft YaHei"/>
              </a:defRPr>
            </a:pPr>
            <a:r>
              <a:t>事件层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219456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EE"/>
                </a:solidFill>
                <a:latin typeface="Microsoft YaHei"/>
              </a:defRPr>
            </a:pPr>
            <a:r>
              <a:t>keydown 监听</a:t>
            </a:r>
            <a:br/>
            <a:r>
              <a:t>方向切换 + 保护</a:t>
            </a:r>
            <a:br/>
            <a:r>
              <a:t>暂停 / 重开</a:t>
            </a:r>
            <a:br/>
            <a:r>
              <a:t>localStorage 持久化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297680"/>
            <a:ext cx="10698480" cy="22860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389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CA3"/>
                </a:solidFill>
                <a:latin typeface="Microsoft YaHei"/>
              </a:defRPr>
            </a:pPr>
            <a:r>
              <a:t>游戏主循环 (100ms/帧)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71600" y="4892040"/>
            <a:ext cx="1828800" cy="128016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4E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63040" y="49377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CA3"/>
                </a:solidFill>
                <a:latin typeface="Microsoft YaHei"/>
              </a:defRPr>
            </a:pPr>
            <a:r>
              <a:t>init()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52578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EEEEE"/>
                </a:solidFill>
                <a:latin typeface="Microsoft YaHei"/>
              </a:defRPr>
            </a:pPr>
            <a:r>
              <a:t>初始化</a:t>
            </a:r>
            <a:br/>
            <a:r>
              <a:t>蛇/食物/状态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3246120" y="5349240"/>
            <a:ext cx="548640" cy="228600"/>
          </a:xfrm>
          <a:prstGeom prst="rightArrow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840480" y="4892040"/>
            <a:ext cx="1828800" cy="128016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FFB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0" y="49377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B528"/>
                </a:solidFill>
                <a:latin typeface="Microsoft YaHei"/>
              </a:defRPr>
            </a:pPr>
            <a:r>
              <a:t>update()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0" y="52578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EEEEE"/>
                </a:solidFill>
                <a:latin typeface="Microsoft YaHei"/>
              </a:defRPr>
            </a:pPr>
            <a:r>
              <a:t>蛇移动</a:t>
            </a:r>
            <a:br/>
            <a:r>
              <a:t>碰撞检测</a:t>
            </a:r>
            <a:br/>
            <a:r>
              <a:t>吃到食物?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5715000" y="5349240"/>
            <a:ext cx="548640" cy="228600"/>
          </a:xfrm>
          <a:prstGeom prst="rightArrow">
            <a:avLst/>
          </a:prstGeom>
          <a:solidFill>
            <a:srgbClr val="FFB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09360" y="4892040"/>
            <a:ext cx="1828800" cy="128016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E23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9377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23E57"/>
                </a:solidFill>
                <a:latin typeface="Microsoft YaHei"/>
              </a:defRPr>
            </a:pPr>
            <a:r>
              <a:t>draw()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2578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EEEEE"/>
                </a:solidFill>
                <a:latin typeface="Microsoft YaHei"/>
              </a:defRPr>
            </a:pPr>
            <a:r>
              <a:t>清屏→网格</a:t>
            </a:r>
            <a:br/>
            <a:r>
              <a:t>画食物→画蛇</a:t>
            </a:r>
            <a:br/>
            <a:r>
              <a:t>画眼睛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8183879" y="5349240"/>
            <a:ext cx="548640" cy="228600"/>
          </a:xfrm>
          <a:prstGeom prst="rightArrow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778240" y="4892040"/>
            <a:ext cx="1828800" cy="1280160"/>
          </a:xfrm>
          <a:prstGeom prst="roundRect">
            <a:avLst/>
          </a:prstGeom>
          <a:solidFill>
            <a:srgbClr val="1A1A2E"/>
          </a:solidFill>
          <a:ln w="25400">
            <a:solidFill>
              <a:srgbClr val="AA6D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69680" y="49377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A6DC3"/>
                </a:solidFill>
                <a:latin typeface="Microsoft YaHei"/>
              </a:defRPr>
            </a:pPr>
            <a:r>
              <a:t>keydown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680" y="525780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EEEEEE"/>
                </a:solidFill>
                <a:latin typeface="Microsoft YaHei"/>
              </a:defRPr>
            </a:pPr>
            <a:r>
              <a:t>方向切换</a:t>
            </a:r>
            <a:br/>
            <a:r>
              <a:t>暂停切换</a:t>
            </a:r>
            <a:br/>
            <a:r>
              <a:t>防反向</a:t>
            </a:r>
          </a:p>
        </p:txBody>
      </p:sp>
      <p:sp>
        <p:nvSpPr>
          <p:cNvPr id="45" name="Left Arrow 44"/>
          <p:cNvSpPr/>
          <p:nvPr/>
        </p:nvSpPr>
        <p:spPr>
          <a:xfrm>
            <a:off x="1254191040000" y="5727472416000"/>
            <a:ext cx="7525146240000" cy="167225472000"/>
          </a:xfrm>
          <a:prstGeom prst="leftArrow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0080"/>
            <a:ext cx="54864" cy="54864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EEEEE"/>
                </a:solidFill>
                <a:latin typeface="Microsoft YaHei"/>
              </a:defRPr>
            </a:pPr>
            <a:r>
              <a:t>界面与视觉设计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CA3"/>
                </a:solidFill>
                <a:latin typeface="Microsoft YaHei"/>
              </a:defRPr>
            </a:pPr>
            <a:r>
              <a:t>配色方案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2194560"/>
            <a:ext cx="256032" cy="256032"/>
          </a:xfrm>
          <a:prstGeom prst="roundRect">
            <a:avLst/>
          </a:prstGeom>
          <a:solidFill>
            <a:srgbClr val="1A1A2E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81912" y="2185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--bg 主背景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2523744"/>
            <a:ext cx="256032" cy="256032"/>
          </a:xfrm>
          <a:prstGeom prst="roundRect">
            <a:avLst/>
          </a:prstGeom>
          <a:solidFill>
            <a:srgbClr val="4ECCA3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81912" y="2514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--accent 强调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2852928"/>
            <a:ext cx="256032" cy="256032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81912" y="28437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--panel 面板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88720" y="3182112"/>
            <a:ext cx="256032" cy="256032"/>
          </a:xfrm>
          <a:prstGeom prst="roundRect">
            <a:avLst/>
          </a:prstGeom>
          <a:solidFill>
            <a:srgbClr val="E23E57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912" y="31729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--food 食物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720" y="3511296"/>
            <a:ext cx="256032" cy="256032"/>
          </a:xfrm>
          <a:prstGeom prst="roundRect">
            <a:avLst/>
          </a:prstGeom>
          <a:solidFill>
            <a:srgbClr val="0F0F23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81912" y="35021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Canvas 背景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19456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onsolas"/>
              </a:defRPr>
            </a:pPr>
            <a:r>
              <a:t>:root {</a:t>
            </a:r>
            <a:br/>
            <a:r>
              <a:t>  --bg: #1a1a2e;</a:t>
            </a:r>
            <a:br/>
            <a:r>
              <a:t>  --accent: #4ecca3;</a:t>
            </a:r>
            <a:br/>
            <a:r>
              <a:t>  --panel: #16213e;</a:t>
            </a:r>
            <a:br/>
            <a:r>
              <a:t>  --food: #e23e57;</a:t>
            </a:r>
            <a:br/>
            <a:r>
              <a:t>  --canvas-bg: #0f0f23;</a:t>
            </a:r>
            <a:br/>
            <a: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1645920"/>
            <a:ext cx="48463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CA3"/>
                </a:solidFill>
                <a:latin typeface="Microsoft YaHei"/>
              </a:defRPr>
            </a:pPr>
            <a:r>
              <a:t>蛇身渐变系统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2468880"/>
            <a:ext cx="384048" cy="384048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79792" y="2468880"/>
            <a:ext cx="384048" cy="384048"/>
          </a:xfrm>
          <a:prstGeom prst="roundRect">
            <a:avLst/>
          </a:prstGeom>
          <a:solidFill>
            <a:srgbClr val="49C5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18704" y="2468880"/>
            <a:ext cx="384048" cy="384048"/>
          </a:xfrm>
          <a:prstGeom prst="roundRect">
            <a:avLst/>
          </a:prstGeom>
          <a:solidFill>
            <a:srgbClr val="45B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57616" y="2468880"/>
            <a:ext cx="384048" cy="384048"/>
          </a:xfrm>
          <a:prstGeom prst="roundRect">
            <a:avLst/>
          </a:prstGeom>
          <a:solidFill>
            <a:srgbClr val="41B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796528" y="2468880"/>
            <a:ext cx="384048" cy="384048"/>
          </a:xfrm>
          <a:prstGeom prst="roundRect">
            <a:avLst/>
          </a:prstGeom>
          <a:solidFill>
            <a:srgbClr val="3CB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35440" y="2468880"/>
            <a:ext cx="384048" cy="384048"/>
          </a:xfrm>
          <a:prstGeom prst="roundRect">
            <a:avLst/>
          </a:prstGeom>
          <a:solidFill>
            <a:srgbClr val="38A9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74352" y="2468880"/>
            <a:ext cx="384048" cy="384048"/>
          </a:xfrm>
          <a:prstGeom prst="roundRect">
            <a:avLst/>
          </a:prstGeom>
          <a:solidFill>
            <a:srgbClr val="34A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113264" y="2468880"/>
            <a:ext cx="384048" cy="384048"/>
          </a:xfrm>
          <a:prstGeom prst="roundRect">
            <a:avLst/>
          </a:prstGeom>
          <a:solidFill>
            <a:srgbClr val="2F9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552176" y="2468880"/>
            <a:ext cx="384048" cy="384048"/>
          </a:xfrm>
          <a:prstGeom prst="roundRect">
            <a:avLst/>
          </a:prstGeom>
          <a:solidFill>
            <a:srgbClr val="2B94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991088" y="2468880"/>
            <a:ext cx="384048" cy="384048"/>
          </a:xfrm>
          <a:prstGeom prst="roundRect">
            <a:avLst/>
          </a:prstGeom>
          <a:solidFill>
            <a:srgbClr val="278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头 ← 渐变 → 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1546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8888"/>
                </a:solidFill>
                <a:latin typeface="Consolas"/>
              </a:defRPr>
            </a:pPr>
            <a:r>
              <a:t>ratio = 1 - i/(len+8)</a:t>
            </a:r>
            <a:br/>
            <a:r>
              <a:t>R=78*r  G=204*r+80*(1-r)  B=163*r+60*(1-r)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114800"/>
            <a:ext cx="5303520" cy="24688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CA3"/>
                </a:solidFill>
                <a:latin typeface="Microsoft YaHei"/>
              </a:defRPr>
            </a:pPr>
            <a:r>
              <a:t>页面布局结构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88720" y="4663440"/>
            <a:ext cx="4389120" cy="1645920"/>
          </a:xfrm>
          <a:prstGeom prst="roundRect">
            <a:avLst/>
          </a:prstGeom>
          <a:solidFill>
            <a:srgbClr val="0F0F23"/>
          </a:solidFill>
          <a:ln w="19050">
            <a:solidFill>
              <a:srgbClr val="4E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47091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88"/>
                </a:solidFill>
                <a:latin typeface="Microsoft YaHei"/>
              </a:defRPr>
            </a:pPr>
            <a:r>
              <a:t>┌ Canvas (30×20 Grid) 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4892040"/>
            <a:ext cx="146304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71600" y="49103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ECCA3"/>
                </a:solidFill>
                <a:latin typeface="Microsoft YaHei"/>
              </a:defRPr>
            </a:pPr>
            <a:r>
              <a:t>分数 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0" y="4892040"/>
            <a:ext cx="1463040" cy="3200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0" y="49103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4ECCA3"/>
                </a:solidFill>
                <a:latin typeface="Microsoft YaHei"/>
              </a:defRPr>
            </a:pPr>
            <a:r>
              <a:t>最高 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86000" y="5486400"/>
            <a:ext cx="182880" cy="18288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487168" y="5486400"/>
            <a:ext cx="182880" cy="18288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688336" y="5486400"/>
            <a:ext cx="182880" cy="18288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89504" y="5486400"/>
            <a:ext cx="182880" cy="18288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114800" y="5212080"/>
            <a:ext cx="164592" cy="164592"/>
          </a:xfrm>
          <a:prstGeom prst="ellipse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583680" y="4114800"/>
            <a:ext cx="4846320" cy="24688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CA3"/>
                </a:solidFill>
                <a:latin typeface="Microsoft YaHei"/>
              </a:defRPr>
            </a:pPr>
            <a:r>
              <a:t>操作方式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5279" y="4754880"/>
            <a:ext cx="457200" cy="4114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4E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5279" y="48006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CA3"/>
                </a:solidFill>
                <a:latin typeface="Microsoft YaHei"/>
              </a:defRPr>
            </a:pPr>
            <a:r>
              <a:t>↑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452360" y="5212080"/>
            <a:ext cx="457200" cy="4114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4E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52360" y="52578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CA3"/>
                </a:solidFill>
                <a:latin typeface="Microsoft YaHei"/>
              </a:defRPr>
            </a:pPr>
            <a:r>
              <a:t>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79" y="5212080"/>
            <a:ext cx="457200" cy="4114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4E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55279" y="52578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CA3"/>
                </a:solidFill>
                <a:latin typeface="Microsoft YaHei"/>
              </a:defRPr>
            </a:pPr>
            <a:r>
              <a:t>↓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458200" y="5212080"/>
            <a:ext cx="457200" cy="4114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4E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58200" y="52578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CA3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26880" y="48463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Microsoft YaHei"/>
              </a:defRPr>
            </a:pPr>
            <a:r>
              <a:t>方向键</a:t>
            </a:r>
            <a:br/>
            <a:br/>
            <a:r>
              <a:t>或</a:t>
            </a:r>
            <a:br/>
            <a:br/>
            <a:r>
              <a:t>W/A/S/D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32320" y="5852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Microsoft YaHei"/>
              </a:defRPr>
            </a:pPr>
            <a:r>
              <a:t>Spacebar →  暂停 / 继续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32320" y="6172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Microsoft YaHei"/>
              </a:defRPr>
            </a:pPr>
            <a:r>
              <a:t>游戏结束 → 点击按钮重开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640080"/>
            <a:ext cx="54864" cy="548640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EEEEE"/>
                </a:solidFill>
                <a:latin typeface="Microsoft YaHei"/>
              </a:defRPr>
            </a:pPr>
            <a:r>
              <a:t>性能优化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10515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CA3"/>
                </a:solidFill>
                <a:latin typeface="Microsoft YaHei"/>
              </a:defRPr>
            </a:pPr>
            <a:r>
              <a:t>离屏 Canvas 网格预渲染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优化前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2240280"/>
            <a:ext cx="3200400" cy="228600"/>
          </a:xfrm>
          <a:prstGeom prst="roundRect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优化后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5920" y="2468880"/>
            <a:ext cx="457200" cy="22860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21488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EEEEE"/>
                </a:solidFill>
                <a:latin typeface="Microsoft YaHei"/>
              </a:defRPr>
            </a:pPr>
            <a:r>
              <a:t>每帧 52 次 draw call → 1 次 drawImage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0" y="1965960"/>
            <a:ext cx="1645920" cy="41148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199339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52x 提升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34640"/>
            <a:ext cx="10698480" cy="10515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26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CA3"/>
                </a:solidFill>
                <a:latin typeface="Microsoft YaHei"/>
              </a:defRPr>
            </a:pPr>
            <a:r>
              <a:t>暂停时跳过渲染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3832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优化前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45920" y="3429000"/>
            <a:ext cx="3200400" cy="228600"/>
          </a:xfrm>
          <a:prstGeom prst="roundRect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611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优化后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45920" y="3657600"/>
            <a:ext cx="457200" cy="22860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33375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EEEEE"/>
                </a:solidFill>
                <a:latin typeface="Microsoft YaHei"/>
              </a:defRPr>
            </a:pPr>
            <a:r>
              <a:t>每秒 10 次无用重绘 → 0 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3154680"/>
            <a:ext cx="1645920" cy="41148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318211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消除浪费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023360"/>
            <a:ext cx="10698480" cy="10515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114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CA3"/>
                </a:solidFill>
                <a:latin typeface="Microsoft YaHei"/>
              </a:defRPr>
            </a:pPr>
            <a:r>
              <a:t>DOM 元素引用缓存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5720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优化前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617720"/>
            <a:ext cx="3200400" cy="228600"/>
          </a:xfrm>
          <a:prstGeom prst="roundRect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8006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优化后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45920" y="4846320"/>
            <a:ext cx="457200" cy="22860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0" y="452628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EEEEE"/>
                </a:solidFill>
                <a:latin typeface="Microsoft YaHei"/>
              </a:defRPr>
            </a:pPr>
            <a:r>
              <a:t>每帧 getElementById → 启动时一次性缓存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1200" y="4343400"/>
            <a:ext cx="1645920" cy="41148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437083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Nx 减少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212080"/>
            <a:ext cx="10698480" cy="105156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CA3"/>
                </a:solidFill>
                <a:latin typeface="Microsoft YaHei"/>
              </a:defRPr>
            </a:pPr>
            <a:r>
              <a:t>Direction 属性赋值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7607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优化前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645920" y="5806440"/>
            <a:ext cx="3200400" cy="228600"/>
          </a:xfrm>
          <a:prstGeom prst="roundRect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9893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Microsoft YaHei"/>
              </a:defRPr>
            </a:pPr>
            <a:r>
              <a:t>优化后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645920" y="6035040"/>
            <a:ext cx="457200" cy="22860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03520" y="571500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EEEEE"/>
                </a:solidFill>
                <a:latin typeface="Microsoft YaHei"/>
              </a:defRPr>
            </a:pPr>
            <a:r>
              <a:t>每帧对象分配 → 标量属性赋值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01200" y="5532120"/>
            <a:ext cx="1645920" cy="411480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0" y="555955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1A2E"/>
                </a:solidFill>
                <a:latin typeface="Microsoft YaHei"/>
              </a:defRPr>
            </a:pPr>
            <a:r>
              <a:t>零 GC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0" y="1371600"/>
            <a:ext cx="329184" cy="329184"/>
          </a:xfrm>
          <a:prstGeom prst="round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94560" y="1371600"/>
            <a:ext cx="329184" cy="329184"/>
          </a:xfrm>
          <a:prstGeom prst="roundRect">
            <a:avLst/>
          </a:prstGeom>
          <a:solidFill>
            <a:srgbClr val="48C2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60320" y="1371600"/>
            <a:ext cx="329184" cy="329184"/>
          </a:xfrm>
          <a:prstGeom prst="roundRect">
            <a:avLst/>
          </a:prstGeom>
          <a:solidFill>
            <a:srgbClr val="42B8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329184" cy="329184"/>
          </a:xfrm>
          <a:prstGeom prst="roundRect">
            <a:avLst/>
          </a:prstGeom>
          <a:solidFill>
            <a:srgbClr val="3BA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329184" cy="329184"/>
          </a:xfrm>
          <a:prstGeom prst="roundRect">
            <a:avLst/>
          </a:prstGeom>
          <a:solidFill>
            <a:srgbClr val="36A5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0" y="1371600"/>
            <a:ext cx="329184" cy="329184"/>
          </a:xfrm>
          <a:prstGeom prst="roundRect">
            <a:avLst/>
          </a:prstGeom>
          <a:solidFill>
            <a:srgbClr val="309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23360" y="1371600"/>
            <a:ext cx="329184" cy="329184"/>
          </a:xfrm>
          <a:prstGeom prst="roundRect">
            <a:avLst/>
          </a:prstGeom>
          <a:solidFill>
            <a:srgbClr val="2A92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29184" cy="329184"/>
          </a:xfrm>
          <a:prstGeom prst="roundRect">
            <a:avLst/>
          </a:prstGeom>
          <a:solidFill>
            <a:srgbClr val="248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9112" y="1426464"/>
            <a:ext cx="91440" cy="9144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9112" y="1572768"/>
            <a:ext cx="91440" cy="91440"/>
          </a:xfrm>
          <a:prstGeom prst="ellipse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57400" y="1444752"/>
            <a:ext cx="45720" cy="45720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57400" y="1591056"/>
            <a:ext cx="45720" cy="45720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988552" y="1444752"/>
            <a:ext cx="320040" cy="320040"/>
          </a:xfrm>
          <a:prstGeom prst="ellipse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015984" y="1472184"/>
            <a:ext cx="265176" cy="265176"/>
          </a:xfrm>
          <a:prstGeom prst="ellipse">
            <a:avLst/>
          </a:prstGeom>
          <a:solidFill>
            <a:srgbClr val="E23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0" y="2926080"/>
            <a:ext cx="2011680" cy="1207008"/>
          </a:xfrm>
          <a:prstGeom prst="rect">
            <a:avLst/>
          </a:prstGeom>
          <a:solidFill>
            <a:srgbClr val="0F0F23"/>
          </a:solidFill>
          <a:ln w="19050">
            <a:solidFill>
              <a:srgbClr val="4ECC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30368" y="2926080"/>
            <a:ext cx="1828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31536" y="2926080"/>
            <a:ext cx="1828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32704" y="2926080"/>
            <a:ext cx="1828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33872" y="2926080"/>
            <a:ext cx="1828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2926080"/>
            <a:ext cx="1828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6208" y="2926080"/>
            <a:ext cx="1828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37376" y="2926080"/>
            <a:ext cx="1828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38544" y="2926080"/>
            <a:ext cx="1828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39712" y="2926080"/>
            <a:ext cx="1828" cy="120700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0" y="3127248"/>
            <a:ext cx="201168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0" y="3328416"/>
            <a:ext cx="201168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0" y="3529584"/>
            <a:ext cx="201168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0" y="3730752"/>
            <a:ext cx="201168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0" y="3931920"/>
            <a:ext cx="2011680" cy="1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21031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4ECCA3"/>
                </a:solidFill>
                <a:latin typeface="Microsoft YaHei"/>
              </a:defRPr>
            </a:pPr>
            <a:r>
              <a:t>感谢观看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0" y="3063240"/>
            <a:ext cx="2103120" cy="27432"/>
          </a:xfrm>
          <a:prstGeom prst="rect">
            <a:avLst/>
          </a:prstGeom>
          <a:solidFill>
            <a:srgbClr val="4EC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0" y="3383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EEEEE"/>
                </a:solidFill>
                <a:latin typeface="Microsoft YaHei"/>
              </a:defRPr>
            </a:pPr>
            <a:r>
              <a:t>贪吃蛇 Snake Game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4114800"/>
            <a:ext cx="5760720" cy="20116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CA3"/>
                </a:solidFill>
                <a:latin typeface="Microsoft YaHei"/>
              </a:defRPr>
            </a:pPr>
            <a:r>
              <a:t>项目链接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663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Consolas"/>
              </a:defRPr>
            </a:pPr>
            <a:r>
              <a:t>GitHub:  github.com/Teddy233666/snake-game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技术:  HTML5 · CSS3 · JavaScript · Canvas 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5577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Teddy233666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